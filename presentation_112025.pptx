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8ED04-56BF-4841-9D7E-04083FA29D6C}" v="189" dt="2025-11-24T13:29:54.080"/>
    <p1510:client id="{6D6F82A6-90FF-F045-0F6F-510F7B6F708A}" v="254" dt="2025-11-24T16:12:36.150"/>
    <p1510:client id="{96DA3F91-B4C1-48E6-8C34-C82313E731BE}" v="2" dt="2025-11-24T17:04:01.720"/>
    <p1510:client id="{BD708208-8F45-49F5-8D44-B8028EB8F0ED}" v="150" dt="2025-11-25T10:37:18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c90baff6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c90baff6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90baff6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90baff6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c90baff6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c90baff6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c90baff60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c90baff60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c90baff60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c90baff60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f5c6745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f5c6745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fcf60ab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fcf60ab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08750" y="4871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Fashion Trend Intelligence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6344450" y="3891100"/>
            <a:ext cx="2538716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fr" dirty="0"/>
              <a:t>Bouchez Marc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" dirty="0"/>
              <a:t>Présentation du projet :</a:t>
            </a:r>
            <a:br>
              <a:rPr lang="fr" dirty="0"/>
            </a:br>
            <a:r>
              <a:rPr lang="fr" dirty="0"/>
              <a:t>Fashion Trend Intelligence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fr-FR" b="1" u="sng" dirty="0">
                <a:solidFill>
                  <a:srgbClr val="00B0F0"/>
                </a:solidFill>
              </a:rPr>
              <a:t>Résumé </a:t>
            </a:r>
            <a:r>
              <a:rPr lang="fr-FR" b="1" u="sng" dirty="0"/>
              <a:t>: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fr-FR" dirty="0"/>
              <a:t>Développer un système automatisé d'analyse des tendances vestimentaires sur les réseaux sociaux. </a:t>
            </a:r>
            <a:endParaRPr lang="fr-FR"/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fr-FR" b="1" u="sng" dirty="0">
                <a:solidFill>
                  <a:srgbClr val="00B0F0"/>
                </a:solidFill>
              </a:rPr>
              <a:t>Objectif </a:t>
            </a:r>
            <a:r>
              <a:rPr lang="fr-FR" b="1" dirty="0"/>
              <a:t>: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fr-FR" dirty="0"/>
              <a:t>Offrir aux marques clientes des informations précises et en temps réel sur les nouvelles modes émergentes, bien avant qu'elles ne deviennent populaires.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fr-FR" b="1" u="sng" dirty="0">
                <a:solidFill>
                  <a:srgbClr val="00B0F0"/>
                </a:solidFill>
              </a:rPr>
              <a:t>Outil</a:t>
            </a:r>
            <a:r>
              <a:rPr lang="fr-FR" b="1" dirty="0"/>
              <a:t>: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fr-FR" dirty="0"/>
              <a:t>Modèle d'IA, </a:t>
            </a:r>
            <a:r>
              <a:rPr lang="fr-FR" dirty="0" err="1"/>
              <a:t>Segformer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Fonctionnement de Segformer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2871323" y="1743396"/>
            <a:ext cx="3126324" cy="2656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-US" b="1" err="1">
                <a:solidFill>
                  <a:srgbClr val="00B0F0"/>
                </a:solidFill>
              </a:rPr>
              <a:t>Segformer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/>
              <a:t>est un </a:t>
            </a:r>
            <a:r>
              <a:rPr lang="en-US" err="1"/>
              <a:t>modèle</a:t>
            </a:r>
            <a:r>
              <a:rPr lang="en-US" dirty="0"/>
              <a:t> de </a:t>
            </a:r>
            <a:r>
              <a:rPr lang="en-US" err="1"/>
              <a:t>donné</a:t>
            </a:r>
            <a:r>
              <a:rPr lang="en-US" dirty="0"/>
              <a:t> Fine-tuned pour la segmentation de </a:t>
            </a:r>
            <a:r>
              <a:rPr lang="en-US" err="1"/>
              <a:t>vêtement</a:t>
            </a:r>
            <a:r>
              <a:rPr lang="en-US" dirty="0"/>
              <a:t>. </a:t>
            </a:r>
            <a:endParaRPr lang="fr-FR"/>
          </a:p>
          <a:p>
            <a:pPr marL="342900" indent="-342900">
              <a:lnSpc>
                <a:spcPct val="114999"/>
              </a:lnSpc>
              <a:spcAft>
                <a:spcPts val="1200"/>
              </a:spcAft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Envoi </a:t>
            </a:r>
            <a:r>
              <a:rPr lang="en-US" dirty="0"/>
              <a:t>des images via API </a:t>
            </a:r>
            <a:endParaRPr lang="fr-FR" dirty="0"/>
          </a:p>
          <a:p>
            <a:pPr marL="342900" indent="-342900">
              <a:lnSpc>
                <a:spcPct val="114999"/>
              </a:lnSpc>
              <a:spcAft>
                <a:spcPts val="1200"/>
              </a:spcAft>
              <a:buAutoNum type="arabicPeriod"/>
            </a:pPr>
            <a:r>
              <a:rPr lang="en-US" err="1">
                <a:solidFill>
                  <a:srgbClr val="92D050"/>
                </a:solidFill>
              </a:rPr>
              <a:t>Analyse</a:t>
            </a:r>
            <a:endParaRPr lang="en-US">
              <a:solidFill>
                <a:srgbClr val="92D050"/>
              </a:solidFill>
            </a:endParaRPr>
          </a:p>
          <a:p>
            <a:pPr marL="342900" indent="-342900">
              <a:lnSpc>
                <a:spcPct val="114999"/>
              </a:lnSpc>
              <a:spcAft>
                <a:spcPts val="1200"/>
              </a:spcAft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Retour </a:t>
            </a:r>
            <a:r>
              <a:rPr lang="en-US" dirty="0"/>
              <a:t>des masks  avec </a:t>
            </a:r>
            <a:r>
              <a:rPr lang="en-US" err="1"/>
              <a:t>une</a:t>
            </a:r>
            <a:r>
              <a:rPr lang="en-US" dirty="0"/>
              <a:t> </a:t>
            </a:r>
            <a:r>
              <a:rPr lang="en-US" err="1"/>
              <a:t>répartition</a:t>
            </a:r>
            <a:r>
              <a:rPr lang="en-US" dirty="0"/>
              <a:t> via </a:t>
            </a:r>
            <a:r>
              <a:rPr lang="en-US" dirty="0">
                <a:solidFill>
                  <a:srgbClr val="92D050"/>
                </a:solidFill>
              </a:rPr>
              <a:t>Json</a:t>
            </a:r>
            <a:r>
              <a:rPr lang="en-US" dirty="0"/>
              <a:t>. </a:t>
            </a:r>
            <a:endParaRPr lang="fr-FR"/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-US" dirty="0" err="1"/>
              <a:t>Chaque</a:t>
            </a:r>
            <a:r>
              <a:rPr lang="en-US" dirty="0"/>
              <a:t> mask </a:t>
            </a:r>
            <a:r>
              <a:rPr lang="en-US" dirty="0" err="1"/>
              <a:t>identifie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partie</a:t>
            </a:r>
            <a:r>
              <a:rPr lang="en-US" dirty="0"/>
              <a:t> du corps et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vêtement</a:t>
            </a:r>
            <a:r>
              <a:rPr lang="en-US" dirty="0"/>
              <a:t> </a:t>
            </a:r>
            <a:r>
              <a:rPr lang="en-US" dirty="0" err="1"/>
              <a:t>selon</a:t>
            </a:r>
            <a:r>
              <a:rPr lang="en-US" dirty="0"/>
              <a:t> des codes </a:t>
            </a:r>
            <a:r>
              <a:rPr lang="en-US" dirty="0" err="1"/>
              <a:t>d'une</a:t>
            </a:r>
            <a:r>
              <a:rPr lang="en-US" dirty="0"/>
              <a:t> nomenclature </a:t>
            </a:r>
            <a:r>
              <a:rPr lang="en-US" dirty="0" err="1"/>
              <a:t>prédéfinie</a:t>
            </a:r>
            <a:r>
              <a:rPr lang="en-US" dirty="0"/>
              <a:t>.</a:t>
            </a:r>
            <a:endParaRPr lang="fr-FR"/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0235BC1-F564-EC6C-A3C8-1A7D8CD65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7" y="1667975"/>
            <a:ext cx="1343025" cy="2809875"/>
          </a:xfrm>
          <a:prstGeom prst="rect">
            <a:avLst/>
          </a:prstGeom>
        </p:spPr>
      </p:pic>
      <p:pic>
        <p:nvPicPr>
          <p:cNvPr id="6" name="Image 5" descr="Une image contenant Dessin d’enfant, clipart, dessin, art&#10;&#10;Le contenu généré par l’IA peut être incorrect.">
            <a:extLst>
              <a:ext uri="{FF2B5EF4-FFF2-40B4-BE49-F238E27FC236}">
                <a16:creationId xmlns:a16="http://schemas.microsoft.com/office/drawing/2014/main" id="{81FA8B07-4D62-CEC1-66B5-1A83E8B7A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25" y="1621082"/>
            <a:ext cx="1285875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Performances du modèle sur les 50 images 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546386" y="1771657"/>
            <a:ext cx="4859036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lnSpc>
                <a:spcPct val="114999"/>
              </a:lnSpc>
            </a:pPr>
            <a:r>
              <a:rPr lang="en-US" sz="1400" b="1" err="1">
                <a:solidFill>
                  <a:srgbClr val="00B0F0"/>
                </a:solidFill>
                <a:latin typeface="Calibri"/>
              </a:rPr>
              <a:t>IoU</a:t>
            </a:r>
            <a:r>
              <a:rPr lang="en-US" sz="1400" b="1" dirty="0">
                <a:solidFill>
                  <a:srgbClr val="00B0F0"/>
                </a:solidFill>
                <a:latin typeface="Calibri"/>
              </a:rPr>
              <a:t> (Intersection over Union)</a:t>
            </a:r>
            <a:r>
              <a:rPr lang="en-US" sz="1400" dirty="0">
                <a:solidFill>
                  <a:srgbClr val="CCCCCC"/>
                </a:solidFill>
                <a:latin typeface="Calibri"/>
              </a:rPr>
              <a:t> : </a:t>
            </a:r>
            <a:r>
              <a:rPr lang="en-US" sz="1400" err="1">
                <a:solidFill>
                  <a:schemeClr val="bg1"/>
                </a:solidFill>
                <a:latin typeface="Calibri"/>
              </a:rPr>
              <a:t>Mesure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 la </a:t>
            </a:r>
            <a:r>
              <a:rPr lang="en-US" sz="1400" err="1">
                <a:solidFill>
                  <a:schemeClr val="bg1"/>
                </a:solidFill>
                <a:latin typeface="Calibri"/>
              </a:rPr>
              <a:t>précision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 de la segmentation.</a:t>
            </a:r>
            <a:endParaRPr lang="fr-FR" sz="1400">
              <a:solidFill>
                <a:schemeClr val="bg1"/>
              </a:solidFill>
              <a:latin typeface="Calibri"/>
            </a:endParaRPr>
          </a:p>
          <a:p>
            <a:pPr lvl="1">
              <a:lnSpc>
                <a:spcPct val="114999"/>
              </a:lnSpc>
            </a:pPr>
            <a:r>
              <a:rPr lang="en-US" sz="1400" err="1">
                <a:solidFill>
                  <a:srgbClr val="CCCCCC"/>
                </a:solidFill>
                <a:latin typeface="Calibri"/>
              </a:rPr>
              <a:t>IoU</a:t>
            </a:r>
            <a:r>
              <a:rPr lang="en-US" sz="1400" dirty="0">
                <a:solidFill>
                  <a:srgbClr val="CCCCCC"/>
                </a:solidFill>
                <a:latin typeface="Calibri"/>
              </a:rPr>
              <a:t> moyen : 0.9374</a:t>
            </a:r>
            <a:endParaRPr lang="en-US" sz="1400">
              <a:latin typeface="Calibri"/>
            </a:endParaRPr>
          </a:p>
          <a:p>
            <a:pPr lvl="1">
              <a:lnSpc>
                <a:spcPct val="114999"/>
              </a:lnSpc>
            </a:pPr>
            <a:endParaRPr lang="en-US" sz="1400" dirty="0">
              <a:solidFill>
                <a:srgbClr val="CCCCCC"/>
              </a:solidFill>
              <a:latin typeface="Calibri"/>
            </a:endParaRPr>
          </a:p>
          <a:p>
            <a:pPr>
              <a:lnSpc>
                <a:spcPct val="114999"/>
              </a:lnSpc>
            </a:pPr>
            <a:r>
              <a:rPr lang="en-US" sz="1400" b="1" dirty="0">
                <a:solidFill>
                  <a:srgbClr val="00B0F0"/>
                </a:solidFill>
                <a:latin typeface="Calibri"/>
              </a:rPr>
              <a:t>Dice Score</a:t>
            </a:r>
            <a:r>
              <a:rPr lang="en-US" sz="1400" dirty="0">
                <a:solidFill>
                  <a:srgbClr val="CCCCCC"/>
                </a:solidFill>
                <a:latin typeface="Calibri"/>
              </a:rPr>
              <a:t> : </a:t>
            </a:r>
            <a:r>
              <a:rPr lang="en-US" sz="1400" err="1">
                <a:solidFill>
                  <a:schemeClr val="bg1"/>
                </a:solidFill>
                <a:latin typeface="Calibri"/>
              </a:rPr>
              <a:t>Mesure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 la </a:t>
            </a:r>
            <a:r>
              <a:rPr lang="en-US" sz="1400" err="1">
                <a:solidFill>
                  <a:schemeClr val="bg1"/>
                </a:solidFill>
                <a:latin typeface="Calibri"/>
              </a:rPr>
              <a:t>similarité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 entre deux ensembles.</a:t>
            </a:r>
            <a:endParaRPr lang="en-US" sz="1400">
              <a:solidFill>
                <a:schemeClr val="bg1"/>
              </a:solidFill>
              <a:latin typeface="Calibri"/>
            </a:endParaRPr>
          </a:p>
          <a:p>
            <a:pPr marL="146050" indent="0">
              <a:lnSpc>
                <a:spcPct val="114999"/>
              </a:lnSpc>
              <a:buNone/>
            </a:pPr>
            <a:endParaRPr lang="en-US" sz="1400" dirty="0">
              <a:solidFill>
                <a:srgbClr val="CCCCCC"/>
              </a:solidFill>
              <a:latin typeface="Calibri"/>
            </a:endParaRPr>
          </a:p>
          <a:p>
            <a:pPr>
              <a:lnSpc>
                <a:spcPct val="114999"/>
              </a:lnSpc>
            </a:pPr>
            <a:r>
              <a:rPr lang="en-US" sz="1400" b="1" dirty="0">
                <a:solidFill>
                  <a:srgbClr val="00B0F0"/>
                </a:solidFill>
                <a:latin typeface="Calibri"/>
              </a:rPr>
              <a:t>F1 Score</a:t>
            </a:r>
            <a:r>
              <a:rPr lang="en-US" sz="1400" dirty="0">
                <a:solidFill>
                  <a:srgbClr val="CCCCCC"/>
                </a:solidFill>
                <a:latin typeface="Calibri"/>
              </a:rPr>
              <a:t> :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Calibri"/>
              </a:rPr>
              <a:t>Équilibre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 entre </a:t>
            </a:r>
            <a:r>
              <a:rPr lang="en-US" sz="1400" err="1">
                <a:solidFill>
                  <a:schemeClr val="bg1"/>
                </a:solidFill>
                <a:latin typeface="Calibri"/>
              </a:rPr>
              <a:t>précision</a:t>
            </a:r>
            <a:r>
              <a:rPr lang="en-US" sz="1400" dirty="0">
                <a:solidFill>
                  <a:schemeClr val="bg1"/>
                </a:solidFill>
                <a:latin typeface="Calibri"/>
              </a:rPr>
              <a:t> et rappel.</a:t>
            </a:r>
            <a:endParaRPr lang="en-US" sz="1400">
              <a:solidFill>
                <a:schemeClr val="bg1"/>
              </a:solidFill>
              <a:latin typeface="Calibri"/>
            </a:endParaRPr>
          </a:p>
          <a:p>
            <a:pPr lvl="1">
              <a:lnSpc>
                <a:spcPct val="114999"/>
              </a:lnSpc>
            </a:pPr>
            <a:r>
              <a:rPr lang="en-US" sz="1400" dirty="0">
                <a:solidFill>
                  <a:srgbClr val="CCCCCC"/>
                </a:solidFill>
                <a:latin typeface="Calibri"/>
              </a:rPr>
              <a:t>F1 Score moyen : 0.9677</a:t>
            </a:r>
            <a:endParaRPr lang="en-US" sz="1400" dirty="0">
              <a:latin typeface="Calibri"/>
            </a:endParaRPr>
          </a:p>
          <a:p>
            <a:pPr>
              <a:lnSpc>
                <a:spcPct val="114999"/>
              </a:lnSpc>
            </a:pPr>
            <a:endParaRPr lang="en-US" dirty="0"/>
          </a:p>
          <a:p>
            <a:pPr>
              <a:lnSpc>
                <a:spcPct val="114999"/>
              </a:lnSpc>
            </a:pPr>
            <a:r>
              <a:rPr lang="en-US" dirty="0">
                <a:solidFill>
                  <a:srgbClr val="00B0F0"/>
                </a:solidFill>
              </a:rPr>
              <a:t>Sur Hugging fac</a:t>
            </a:r>
            <a:r>
              <a:rPr lang="en-US" dirty="0"/>
              <a:t>e le </a:t>
            </a:r>
            <a:r>
              <a:rPr lang="en-US" dirty="0" err="1"/>
              <a:t>modèle</a:t>
            </a:r>
            <a:r>
              <a:rPr lang="en-US" dirty="0"/>
              <a:t> est </a:t>
            </a:r>
            <a:r>
              <a:rPr lang="en-US" dirty="0" err="1"/>
              <a:t>évalué</a:t>
            </a:r>
            <a:r>
              <a:rPr lang="en-US" dirty="0"/>
              <a:t>:</a:t>
            </a:r>
          </a:p>
          <a:p>
            <a:pPr lvl="1">
              <a:lnSpc>
                <a:spcPct val="114999"/>
              </a:lnSpc>
              <a:buSzPts val="1300"/>
            </a:pPr>
            <a:r>
              <a:rPr lang="en-US" dirty="0"/>
              <a:t>Evaluation des </a:t>
            </a:r>
            <a:r>
              <a:rPr lang="en-US" dirty="0" err="1"/>
              <a:t>pertes</a:t>
            </a:r>
            <a:r>
              <a:rPr lang="en-US" dirty="0"/>
              <a:t>: 0.15</a:t>
            </a:r>
          </a:p>
          <a:p>
            <a:pPr lvl="1">
              <a:lnSpc>
                <a:spcPct val="114999"/>
              </a:lnSpc>
              <a:buSzPts val="1300"/>
            </a:pPr>
            <a:r>
              <a:rPr lang="en-US" dirty="0"/>
              <a:t>Moyenne de </a:t>
            </a:r>
            <a:r>
              <a:rPr lang="en-US" dirty="0" err="1"/>
              <a:t>précision</a:t>
            </a:r>
            <a:r>
              <a:rPr lang="en-US" dirty="0"/>
              <a:t>: 0.80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Moyenne </a:t>
            </a:r>
            <a:r>
              <a:rPr lang="en-US" dirty="0" err="1"/>
              <a:t>IoU</a:t>
            </a:r>
            <a:r>
              <a:rPr lang="en-US" dirty="0"/>
              <a:t>: 0.69</a:t>
            </a:r>
          </a:p>
          <a:p>
            <a:pPr lvl="1">
              <a:lnSpc>
                <a:spcPct val="114999"/>
              </a:lnSpc>
            </a:pPr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67BFE91-3C6F-5BC9-61C5-166A5414E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784" y="1004206"/>
            <a:ext cx="3385224" cy="3967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Proposition d’une méthode de validation du modèle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578854" y="1804942"/>
            <a:ext cx="5737639" cy="2418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4999"/>
              </a:lnSpc>
              <a:buNone/>
            </a:pPr>
            <a:r>
              <a:rPr lang="en-US" sz="1600" dirty="0"/>
              <a:t>Pour un total de </a:t>
            </a:r>
            <a:r>
              <a:rPr lang="en-US" sz="1600" dirty="0">
                <a:solidFill>
                  <a:srgbClr val="00B0F0"/>
                </a:solidFill>
              </a:rPr>
              <a:t>500 000</a:t>
            </a:r>
            <a:r>
              <a:rPr lang="en-US" sz="1600" dirty="0"/>
              <a:t> images</a:t>
            </a:r>
          </a:p>
          <a:p>
            <a:pPr>
              <a:lnSpc>
                <a:spcPct val="114999"/>
              </a:lnSpc>
              <a:buNone/>
            </a:pPr>
            <a:endParaRPr lang="en-US" sz="1600" dirty="0"/>
          </a:p>
          <a:p>
            <a:pPr>
              <a:lnSpc>
                <a:spcPct val="114999"/>
              </a:lnSpc>
              <a:buNone/>
            </a:pPr>
            <a:r>
              <a:rPr lang="en-US" sz="1600" dirty="0"/>
              <a:t> - Jeu </a:t>
            </a:r>
            <a:r>
              <a:rPr lang="en-US" sz="1600" err="1">
                <a:solidFill>
                  <a:srgbClr val="92D050"/>
                </a:solidFill>
              </a:rPr>
              <a:t>d'entraînement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B0F0"/>
                </a:solidFill>
              </a:rPr>
              <a:t>70</a:t>
            </a:r>
            <a:r>
              <a:rPr lang="en-US" sz="1600" dirty="0"/>
              <a:t>% des données (</a:t>
            </a:r>
            <a:r>
              <a:rPr lang="en-US" sz="1600" dirty="0">
                <a:solidFill>
                  <a:srgbClr val="00B0F0"/>
                </a:solidFill>
              </a:rPr>
              <a:t>350 000</a:t>
            </a:r>
            <a:r>
              <a:rPr lang="en-US" sz="1600" dirty="0"/>
              <a:t> images).</a:t>
            </a:r>
            <a:endParaRPr lang="fr-FR" sz="1600"/>
          </a:p>
          <a:p>
            <a:pPr>
              <a:lnSpc>
                <a:spcPct val="114999"/>
              </a:lnSpc>
              <a:buNone/>
            </a:pPr>
            <a:endParaRPr lang="en-US" sz="1600" dirty="0"/>
          </a:p>
          <a:p>
            <a:pPr>
              <a:lnSpc>
                <a:spcPct val="114999"/>
              </a:lnSpc>
              <a:buNone/>
            </a:pPr>
            <a:r>
              <a:rPr lang="en-US" sz="1600" dirty="0"/>
              <a:t> - Jeu de </a:t>
            </a:r>
            <a:r>
              <a:rPr lang="en-US" sz="1600" dirty="0">
                <a:solidFill>
                  <a:srgbClr val="92D050"/>
                </a:solidFill>
              </a:rPr>
              <a:t>validation 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B0F0"/>
                </a:solidFill>
              </a:rPr>
              <a:t>15</a:t>
            </a:r>
            <a:r>
              <a:rPr lang="en-US" sz="1600" dirty="0"/>
              <a:t>% des données (</a:t>
            </a:r>
            <a:r>
              <a:rPr lang="en-US" sz="1600" dirty="0">
                <a:solidFill>
                  <a:srgbClr val="00B0F0"/>
                </a:solidFill>
              </a:rPr>
              <a:t>7 000</a:t>
            </a:r>
            <a:r>
              <a:rPr lang="en-US" sz="1600" dirty="0"/>
              <a:t> images).</a:t>
            </a:r>
          </a:p>
          <a:p>
            <a:pPr>
              <a:lnSpc>
                <a:spcPct val="114999"/>
              </a:lnSpc>
              <a:buNone/>
            </a:pPr>
            <a:endParaRPr lang="en-US" sz="1600" dirty="0"/>
          </a:p>
          <a:p>
            <a:pPr>
              <a:lnSpc>
                <a:spcPct val="114999"/>
              </a:lnSpc>
              <a:buNone/>
            </a:pPr>
            <a:r>
              <a:rPr lang="en-US" sz="1600" dirty="0"/>
              <a:t> - Jeu de </a:t>
            </a:r>
            <a:r>
              <a:rPr lang="en-US" sz="1600" dirty="0">
                <a:solidFill>
                  <a:srgbClr val="92D050"/>
                </a:solidFill>
              </a:rPr>
              <a:t>test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B0F0"/>
                </a:solidFill>
              </a:rPr>
              <a:t>15</a:t>
            </a:r>
            <a:r>
              <a:rPr lang="en-US" sz="1600" dirty="0"/>
              <a:t>% des données (</a:t>
            </a:r>
            <a:r>
              <a:rPr lang="en-US" sz="1600" dirty="0">
                <a:solidFill>
                  <a:srgbClr val="00B0F0"/>
                </a:solidFill>
              </a:rPr>
              <a:t>8 000</a:t>
            </a:r>
            <a:r>
              <a:rPr lang="en-US" sz="1600" dirty="0"/>
              <a:t> images).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62331" y="393750"/>
            <a:ext cx="7074069" cy="615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Passage à l’échelle et coût d’utilisation</a:t>
            </a:r>
            <a:endParaRPr/>
          </a:p>
        </p:txBody>
      </p:sp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C9ACCFCD-DAB6-A40C-113D-DED20E78F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62" y="1533891"/>
            <a:ext cx="6619875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conformité réglementaire (slide optionnelle) 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Arial"/>
              <a:buChar char="•"/>
            </a:pPr>
            <a:r>
              <a:rPr lang="fr" dirty="0">
                <a:solidFill>
                  <a:srgbClr val="00B0F0"/>
                </a:solidFill>
              </a:rPr>
              <a:t>RGPD </a:t>
            </a:r>
            <a:r>
              <a:rPr lang="fr" dirty="0"/>
              <a:t>:</a:t>
            </a:r>
            <a:endParaRPr lang="fr-FR" dirty="0"/>
          </a:p>
          <a:p>
            <a:pPr marL="742950" lvl="1" indent="-285750">
              <a:lnSpc>
                <a:spcPct val="114999"/>
              </a:lnSpc>
              <a:spcAft>
                <a:spcPts val="1200"/>
              </a:spcAft>
              <a:buSzPts val="1300"/>
              <a:buFont typeface="Courier New"/>
              <a:buChar char="o"/>
            </a:pPr>
            <a:r>
              <a:rPr lang="fr" dirty="0"/>
              <a:t>Demande de l'autorisation des personnes utilisées</a:t>
            </a:r>
          </a:p>
          <a:p>
            <a:pPr marL="742950" lvl="1" indent="-285750">
              <a:lnSpc>
                <a:spcPct val="114999"/>
              </a:lnSpc>
              <a:spcAft>
                <a:spcPts val="1200"/>
              </a:spcAft>
              <a:buSzPts val="1300"/>
              <a:buFont typeface="Courier New"/>
              <a:buChar char="o"/>
            </a:pPr>
            <a:r>
              <a:rPr lang="fr" dirty="0"/>
              <a:t>Floutage des visages ou non traitement</a:t>
            </a:r>
          </a:p>
          <a:p>
            <a:pPr marL="742950" lvl="1" indent="-285750">
              <a:lnSpc>
                <a:spcPct val="114999"/>
              </a:lnSpc>
              <a:spcAft>
                <a:spcPts val="1200"/>
              </a:spcAft>
              <a:buFont typeface="Courier New"/>
              <a:buChar char="o"/>
            </a:pPr>
            <a:r>
              <a:rPr lang="fr" dirty="0"/>
              <a:t>Anonymisation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Arial"/>
              <a:buChar char="•"/>
            </a:pPr>
            <a:r>
              <a:rPr lang="fr" dirty="0">
                <a:solidFill>
                  <a:srgbClr val="00B0F0"/>
                </a:solidFill>
              </a:rPr>
              <a:t>IA </a:t>
            </a:r>
            <a:r>
              <a:rPr lang="fr" err="1">
                <a:solidFill>
                  <a:srgbClr val="00B0F0"/>
                </a:solidFill>
              </a:rPr>
              <a:t>act</a:t>
            </a:r>
            <a:r>
              <a:rPr lang="fr" dirty="0">
                <a:solidFill>
                  <a:srgbClr val="00B0F0"/>
                </a:solidFill>
              </a:rPr>
              <a:t> </a:t>
            </a:r>
            <a:r>
              <a:rPr lang="fr" dirty="0"/>
              <a:t>:</a:t>
            </a:r>
          </a:p>
          <a:p>
            <a:pPr marL="742950" lvl="1" indent="-285750">
              <a:lnSpc>
                <a:spcPct val="114999"/>
              </a:lnSpc>
              <a:spcAft>
                <a:spcPts val="1200"/>
              </a:spcAft>
              <a:buSzPts val="1300"/>
              <a:buFont typeface="Courier New"/>
              <a:buChar char="o"/>
            </a:pPr>
            <a:r>
              <a:rPr lang="fr" dirty="0"/>
              <a:t>la constitution de bases de données de reconnaissance faciale  est interdite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Bilan du projet réalisé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926150" y="1306293"/>
            <a:ext cx="76104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fr" dirty="0"/>
              <a:t>Les </a:t>
            </a:r>
            <a:r>
              <a:rPr lang="fr" dirty="0">
                <a:solidFill>
                  <a:srgbClr val="00B0F0"/>
                </a:solidFill>
              </a:rPr>
              <a:t>défis techniques</a:t>
            </a:r>
            <a:r>
              <a:rPr lang="fr" dirty="0"/>
              <a:t> rencontrés </a:t>
            </a:r>
            <a:endParaRPr lang="fr-FR" dirty="0"/>
          </a:p>
          <a:p>
            <a:pPr marL="742950" lvl="1" indent="-285750">
              <a:lnSpc>
                <a:spcPct val="114999"/>
              </a:lnSpc>
              <a:spcBef>
                <a:spcPts val="1200"/>
              </a:spcBef>
              <a:buFont typeface="Courier New"/>
              <a:buChar char="o"/>
            </a:pPr>
            <a:r>
              <a:rPr lang="fr" dirty="0"/>
              <a:t>Utilisation d'une IA</a:t>
            </a:r>
          </a:p>
          <a:p>
            <a:pPr marL="742950" lvl="1" indent="-285750">
              <a:lnSpc>
                <a:spcPct val="114999"/>
              </a:lnSpc>
              <a:spcBef>
                <a:spcPts val="1200"/>
              </a:spcBef>
              <a:buFont typeface="Courier New"/>
              <a:buChar char="o"/>
            </a:pPr>
            <a:r>
              <a:rPr lang="fr" dirty="0"/>
              <a:t>Compréhension de ce qu'est la segmentation</a:t>
            </a:r>
            <a:endParaRPr lang="fr" dirty="0" err="1"/>
          </a:p>
          <a:p>
            <a:pPr marL="285750" indent="-285750">
              <a:lnSpc>
                <a:spcPct val="114999"/>
              </a:lnSpc>
              <a:spcBef>
                <a:spcPts val="1200"/>
              </a:spcBef>
              <a:buSzPts val="1100"/>
              <a:buFont typeface="Arial"/>
              <a:buChar char="•"/>
            </a:pPr>
            <a:r>
              <a:rPr lang="fr" dirty="0"/>
              <a:t>Vos idées pour </a:t>
            </a:r>
            <a:r>
              <a:rPr lang="fr" dirty="0">
                <a:solidFill>
                  <a:srgbClr val="00B0F0"/>
                </a:solidFill>
              </a:rPr>
              <a:t>améliorer le système</a:t>
            </a:r>
            <a:endParaRPr dirty="0">
              <a:solidFill>
                <a:srgbClr val="00B0F0"/>
              </a:solidFill>
            </a:endParaRPr>
          </a:p>
          <a:p>
            <a:pPr marL="742950" lvl="1" indent="-285750">
              <a:lnSpc>
                <a:spcPct val="114999"/>
              </a:lnSpc>
              <a:spcBef>
                <a:spcPts val="1200"/>
              </a:spcBef>
              <a:buFont typeface="Courier New"/>
              <a:buChar char="o"/>
            </a:pPr>
            <a:r>
              <a:rPr lang="fr" dirty="0"/>
              <a:t>Déplacement en local</a:t>
            </a:r>
            <a:endParaRPr lang="fr" dirty="0">
              <a:solidFill>
                <a:srgbClr val="000000"/>
              </a:solidFill>
              <a:latin typeface="Inter"/>
              <a:ea typeface="Inter"/>
            </a:endParaRPr>
          </a:p>
          <a:p>
            <a:pPr marL="742950" lvl="1" indent="-285750">
              <a:lnSpc>
                <a:spcPct val="114999"/>
              </a:lnSpc>
              <a:spcBef>
                <a:spcPts val="1200"/>
              </a:spcBef>
              <a:buFont typeface="Courier New"/>
              <a:buChar char="o"/>
            </a:pPr>
            <a:r>
              <a:rPr lang="fr" dirty="0"/>
              <a:t>Liaison réseaux sociaux</a:t>
            </a:r>
          </a:p>
          <a:p>
            <a:pPr marL="742950" lvl="1" indent="-285750">
              <a:lnSpc>
                <a:spcPct val="114999"/>
              </a:lnSpc>
              <a:spcBef>
                <a:spcPts val="1200"/>
              </a:spcBef>
              <a:buFont typeface="Courier New"/>
              <a:buChar char="o"/>
            </a:pPr>
            <a:r>
              <a:rPr lang="fr" dirty="0"/>
              <a:t>Pondération par influenceur</a:t>
            </a:r>
          </a:p>
          <a:p>
            <a:pPr marL="285750" indent="-285750">
              <a:lnSpc>
                <a:spcPct val="114999"/>
              </a:lnSpc>
              <a:spcBef>
                <a:spcPts val="1200"/>
              </a:spcBef>
              <a:buSzPts val="1100"/>
              <a:buFont typeface="Arial"/>
              <a:buChar char="•"/>
            </a:pPr>
            <a:r>
              <a:rPr lang="fr" dirty="0"/>
              <a:t>Les </a:t>
            </a:r>
            <a:r>
              <a:rPr lang="fr" dirty="0">
                <a:solidFill>
                  <a:srgbClr val="00B0F0"/>
                </a:solidFill>
              </a:rPr>
              <a:t>applications potentielles</a:t>
            </a:r>
            <a:r>
              <a:rPr lang="fr" dirty="0"/>
              <a:t> pour les clients de </a:t>
            </a:r>
            <a:r>
              <a:rPr lang="fr" err="1"/>
              <a:t>ModeTrend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</a:endParaRPr>
          </a:p>
          <a:p>
            <a:pPr marL="742950" lvl="1" indent="-285750">
              <a:lnSpc>
                <a:spcPct val="114999"/>
              </a:lnSpc>
              <a:spcBef>
                <a:spcPts val="1200"/>
              </a:spcBef>
              <a:buFont typeface="Courier New"/>
              <a:buChar char="o"/>
            </a:pPr>
            <a:r>
              <a:rPr lang="fr" dirty="0"/>
              <a:t>Analyse en direct des activités et tendance</a:t>
            </a:r>
          </a:p>
          <a:p>
            <a:pPr marL="1200150" lvl="2" indent="-285750">
              <a:lnSpc>
                <a:spcPct val="114999"/>
              </a:lnSpc>
              <a:spcBef>
                <a:spcPts val="1200"/>
              </a:spcBef>
              <a:buFont typeface="Wingdings"/>
              <a:buChar char="§"/>
            </a:pPr>
            <a:endParaRPr lang="fr" dirty="0"/>
          </a:p>
          <a:p>
            <a:pPr marL="0" indent="0">
              <a:spcBef>
                <a:spcPts val="1200"/>
              </a:spcBef>
              <a:buNone/>
            </a:pPr>
            <a:endParaRPr lang="fr-FR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8</Slides>
  <Notes>8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Focus</vt:lpstr>
      <vt:lpstr>Fashion Trend Intelligence</vt:lpstr>
      <vt:lpstr>Présentation du projet : Fashion Trend Intelligence</vt:lpstr>
      <vt:lpstr>Fonctionnement de Segformer</vt:lpstr>
      <vt:lpstr>Performances du modèle sur les 50 images </vt:lpstr>
      <vt:lpstr>Proposition d’une méthode de validation du modèle</vt:lpstr>
      <vt:lpstr>Passage à l’échelle et coût d’utilisation</vt:lpstr>
      <vt:lpstr>Analyse de la conformité réglementaire (slide optionnelle) </vt:lpstr>
      <vt:lpstr>Bilan du projet réalisé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273</cp:revision>
  <dcterms:modified xsi:type="dcterms:W3CDTF">2025-11-25T13:51:20Z</dcterms:modified>
</cp:coreProperties>
</file>